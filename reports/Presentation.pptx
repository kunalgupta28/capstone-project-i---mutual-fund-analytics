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743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0B981"/>
                </a:solidFill>
                <a:latin typeface="Calibri"/>
              </a:rPr>
              <a:t>BLUESTOCK FINTECH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E2E8F0"/>
                </a:solidFill>
                <a:latin typeface="Calibri"/>
              </a:rPr>
              <a:t>Mutual Fund Analytics — Capstone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94A3B8"/>
                </a:solidFill>
                <a:latin typeface="Calibri"/>
              </a:rPr>
              <a:t>Final Presentation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828800" y="2651760"/>
            <a:ext cx="8531352" cy="0"/>
          </a:xfrm>
          <a:prstGeom prst="line">
            <a:avLst/>
          </a:prstGeom>
          <a:ln w="2540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097280" y="3108960"/>
            <a:ext cx="1828800" cy="1280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24612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0B981"/>
                </a:solidFill>
                <a:latin typeface="Calibri"/>
              </a:rPr>
              <a:t>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8862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Schemes Analysed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3108960"/>
            <a:ext cx="1828800" cy="1280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324612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0B981"/>
                </a:solidFill>
                <a:latin typeface="Calibri"/>
              </a:rPr>
              <a:t>51K+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38862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NAV Data Points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0" y="3108960"/>
            <a:ext cx="1828800" cy="1280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0" y="324612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0B981"/>
                </a:solidFill>
                <a:latin typeface="Calibri"/>
              </a:rPr>
              <a:t>32K+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38862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Transactions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0" y="3108960"/>
            <a:ext cx="1828800" cy="1280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0" y="324612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0B981"/>
                </a:solidFill>
                <a:latin typeface="Calibri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38862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Raw Datasets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0" y="3108960"/>
            <a:ext cx="1828800" cy="1280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0" y="324612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0B981"/>
                </a:solidFill>
                <a:latin typeface="Calibri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38862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Analysis Days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02920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Prepared by: Kunal Gupta  |  July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39496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Internship @ Bluestock Fintech  |  AI/ML Data Analytics Track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0B981"/>
                </a:solidFill>
                <a:latin typeface="Calibri"/>
              </a:rPr>
              <a:t>Problem Statement &amp;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Why this project matters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051560"/>
            <a:ext cx="11247120" cy="0"/>
          </a:xfrm>
          <a:prstGeom prst="line">
            <a:avLst/>
          </a:prstGeom>
          <a:ln w="2540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0B981"/>
                </a:solidFill>
                <a:latin typeface="Calibri"/>
              </a:rPr>
              <a:t>Key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2024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EF4444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Data Fragmentation: NAV, AUM, SIP data scattered across sources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EF4444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No unified performance comparison across 40+ schemes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EF4444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Missing benchmark tracking (Nifty 50/100/BSE SmallCap)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EF4444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Investor behavior blindspot (32K+ transactions unexplored)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EF4444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Static reporting — no interactive dashboards for stakeholders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0B981"/>
                </a:solidFill>
                <a:latin typeface="Calibri"/>
              </a:rPr>
              <a:t>Project Objectives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0B981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Build end-to-end ETL pipeline with SQLite star schema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0B981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Compute risk-adjusted metrics (Sharpe, Sortino, Alpha, VaR)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0B981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Generate 15+ EDA visualizations with business insights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0B981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Create 4-page interactive Power BI dashboard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0B981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Implement rule-based fund recommendation engine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0B981"/>
                </a:solidFill>
                <a:latin typeface="Calibri"/>
              </a:rPr>
              <a:t>Data Sources &amp; 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10 structured CSV datasets | AMFI India + mfapi.in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051560"/>
            <a:ext cx="11247120" cy="0"/>
          </a:xfrm>
          <a:prstGeom prst="line">
            <a:avLst/>
          </a:prstGeom>
          <a:ln w="2540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57200" y="1463040"/>
            <a:ext cx="548640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01 Fund Master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7452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40 schemes, AMC, category, plan type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77440"/>
            <a:ext cx="548640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423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02 NAV History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78892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51,400+ daily NAV records (2020-2025)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91840"/>
            <a:ext cx="548640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3375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03 AUM by Fund House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70332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140 AMCs × monthly AUM data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206240"/>
            <a:ext cx="548640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5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04 Monthly SIP Inflows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61772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60 months of industry SIP data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120640"/>
            <a:ext cx="548640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16635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05 Category Inflows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53212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Inflow by fund category per month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1463040"/>
            <a:ext cx="548640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1508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06 Folio Count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187452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Industry folio growth (24 months)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2377440"/>
            <a:ext cx="548640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2423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07 Scheme Performance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278892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Sharpe, Sortino, Alpha, Beta, VaR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3291840"/>
            <a:ext cx="548640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33375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08 Investor Transactions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370332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32,780 SIP/redemption records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206240"/>
            <a:ext cx="548640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7960" y="425195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09 Portfolio Holdings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461772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323 stock-level equity holdings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5120640"/>
            <a:ext cx="548640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7960" y="516635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10 Benchmark Indices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60" y="553212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NIFTY 50/100/SENSEX daily OHLCV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0080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Sources: AMFI India · mfapi.in REST API · NSE/BSE public data | Total: ~5.5 MB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0B981"/>
                </a:solidFill>
                <a:latin typeface="Calibri"/>
              </a:rPr>
              <a:t>System Architecture &amp; ETL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Extract → Transform → Load → Analyze → Visualize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051560"/>
            <a:ext cx="11247120" cy="0"/>
          </a:xfrm>
          <a:prstGeom prst="line">
            <a:avLst/>
          </a:prstGeom>
          <a:ln w="2540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274320" y="1645920"/>
            <a:ext cx="2103120" cy="18288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645920"/>
            <a:ext cx="210312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6420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EXTRACT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194560"/>
            <a:ext cx="1920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2E8F0"/>
                </a:solidFill>
                <a:latin typeface="Calibri"/>
              </a:rPr>
              <a:t>mfapi.in REST
+ 10 CSVs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51760" y="1645920"/>
            <a:ext cx="2103120" cy="18288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51760" y="1645920"/>
            <a:ext cx="210312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51760" y="166420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TRANSFORM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194560"/>
            <a:ext cx="1920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2E8F0"/>
                </a:solidFill>
                <a:latin typeface="Calibri"/>
              </a:rPr>
              <a:t>Pandas clean
FFill + Dedup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0" y="1645920"/>
            <a:ext cx="2103120" cy="18288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645920"/>
            <a:ext cx="2103120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166420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LOAD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2194560"/>
            <a:ext cx="1920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2E8F0"/>
                </a:solidFill>
                <a:latin typeface="Calibri"/>
              </a:rPr>
              <a:t>SQLite DB
Star Schema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06640" y="1645920"/>
            <a:ext cx="2103120" cy="18288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06640" y="1645920"/>
            <a:ext cx="2103120" cy="4572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0" y="166420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ANALYZE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2194560"/>
            <a:ext cx="1920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2E8F0"/>
                </a:solidFill>
                <a:latin typeface="Calibri"/>
              </a:rPr>
              <a:t>Metrics +
EDA + Risk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84080" y="1645920"/>
            <a:ext cx="2103120" cy="18288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84080" y="1645920"/>
            <a:ext cx="210312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0" y="166420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VISUALIZE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19" y="2194560"/>
            <a:ext cx="1920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2E8F0"/>
                </a:solidFill>
                <a:latin typeface="Calibri"/>
              </a:rPr>
              <a:t>Power BI
+ Reports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3840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Star Schema Database (8 Tables)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480560"/>
            <a:ext cx="2743200" cy="7315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4480560"/>
            <a:ext cx="137160" cy="7315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6177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2E8F0"/>
                </a:solidFill>
                <a:latin typeface="Calibri"/>
              </a:rPr>
              <a:t>dim_fund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83280" y="4480560"/>
            <a:ext cx="2743200" cy="7315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383280" y="4480560"/>
            <a:ext cx="137160" cy="7315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11880" y="46177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2E8F0"/>
                </a:solidFill>
                <a:latin typeface="Calibri"/>
              </a:rPr>
              <a:t>dim_date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4480560"/>
            <a:ext cx="2743200" cy="7315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09360" y="4480560"/>
            <a:ext cx="137160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7960" y="46177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2E8F0"/>
                </a:solidFill>
                <a:latin typeface="Calibri"/>
              </a:rPr>
              <a:t>fact_nav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35440" y="4480560"/>
            <a:ext cx="2743200" cy="7315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35440" y="4480560"/>
            <a:ext cx="137160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64040" y="46177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2E8F0"/>
                </a:solidFill>
                <a:latin typeface="Calibri"/>
              </a:rPr>
              <a:t>fact_aum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5394960"/>
            <a:ext cx="2743200" cy="7315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5394960"/>
            <a:ext cx="137160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55321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2E8F0"/>
                </a:solidFill>
                <a:latin typeface="Calibri"/>
              </a:rPr>
              <a:t>fact_sip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83280" y="5394960"/>
            <a:ext cx="2743200" cy="7315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383280" y="5394960"/>
            <a:ext cx="137160" cy="731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11880" y="55321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2E8F0"/>
                </a:solidFill>
                <a:latin typeface="Calibri"/>
              </a:rPr>
              <a:t>fact_transactions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09360" y="5394960"/>
            <a:ext cx="2743200" cy="7315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309360" y="5394960"/>
            <a:ext cx="137160" cy="731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37960" y="55321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2E8F0"/>
                </a:solidFill>
                <a:latin typeface="Calibri"/>
              </a:rPr>
              <a:t>fact_performance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35440" y="5394960"/>
            <a:ext cx="2743200" cy="7315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235440" y="5394960"/>
            <a:ext cx="137160" cy="731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64040" y="55321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2E8F0"/>
                </a:solidFill>
                <a:latin typeface="Calibri"/>
              </a:rPr>
              <a:t>fact_portfolio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0B981"/>
                </a:solidFill>
                <a:latin typeface="Calibri"/>
              </a:rPr>
              <a:t>EDA 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15 visualizations | 10 business insights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051560"/>
            <a:ext cx="11247120" cy="0"/>
          </a:xfrm>
          <a:prstGeom prst="line">
            <a:avLst/>
          </a:prstGeom>
          <a:ln w="2540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57200" y="1463040"/>
            <a:ext cx="548640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01.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627632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SIP inflows grew 3x: ₹11K Cr (Jan'23) to ₹31K Cr (Dec'25)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77440"/>
            <a:ext cx="548640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5603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02.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542032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T30 cities = 67% volume | B30 growing faster at +18% YoY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91840"/>
            <a:ext cx="548640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4747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03.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456432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36-45 age group = highest SIP investors (32% of volume)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206240"/>
            <a:ext cx="548640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389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04.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370831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Female investors show higher SIP continuity despite lower avg amount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120640"/>
            <a:ext cx="548640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5303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05.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285231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Large Cap NAV correlation &gt; 0.92 | Small Cap more idiosyncratic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1463040"/>
            <a:ext cx="548640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16459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06.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1627632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Pharma &amp; Banking sectors dominate equity fund holdings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2377440"/>
            <a:ext cx="548640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25603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07.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2542032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Redemptions spike in Jan/Apr (tax planning) and Oct (corrections)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3291840"/>
            <a:ext cx="548640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34747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08.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3456432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UPI is now the dominant payment mode at 42% of transactions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206240"/>
            <a:ext cx="548640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4389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09.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4370831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Folio count grew 18% YoY — reflecting market participation surge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5120640"/>
            <a:ext cx="548640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0" y="5303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10.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5285231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December is consistently the highest SIP inflow month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0B981"/>
                </a:solidFill>
                <a:latin typeface="Calibri"/>
              </a:rPr>
              <a:t>Fund Performance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Composite scorecard | Risk-adjusted returns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051560"/>
            <a:ext cx="11247120" cy="0"/>
          </a:xfrm>
          <a:prstGeom prst="line">
            <a:avLst/>
          </a:prstGeom>
          <a:ln w="2540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57200" y="1463040"/>
            <a:ext cx="1645920" cy="1280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0B981"/>
                </a:solidFill>
                <a:latin typeface="Calibri"/>
              </a:rPr>
              <a:t>24.6%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4028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Top 3yr CAGR
(Small Cap)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0" y="1463040"/>
            <a:ext cx="1645920" cy="1280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0" y="160020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3B82F6"/>
                </a:solidFill>
                <a:latin typeface="Calibri"/>
              </a:rPr>
              <a:t>0.94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224028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Best Sharpe
(SBI Small Cap)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1463040"/>
            <a:ext cx="1645920" cy="1280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160020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59E0B"/>
                </a:solidFill>
                <a:latin typeface="Calibri"/>
              </a:rPr>
              <a:t>1.0%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224028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Avg Expense
Direct Plans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0" y="1463040"/>
            <a:ext cx="1645920" cy="1280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0" y="160020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EF4444"/>
                </a:solidFill>
                <a:latin typeface="Calibri"/>
              </a:rPr>
              <a:t>94.8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224028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Top Composite
Score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0" y="1463040"/>
            <a:ext cx="1645920" cy="1280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0" y="160020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0B981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224028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Metrics in
Scorecard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01200" y="1463040"/>
            <a:ext cx="1645920" cy="1280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0" y="160020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3B82F6"/>
                </a:solidFill>
                <a:latin typeface="Calibri"/>
              </a:rPr>
              <a:t>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224028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Funds Ranked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92608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94A3B8"/>
                </a:solidFill>
                <a:latin typeface="Calibri"/>
              </a:rPr>
              <a:t>Composite Score = 30% CAGR + 25% Sharpe + 20% Alpha + 15% Expense(inv) + 10% MaxDD(inv)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474720"/>
            <a:ext cx="10972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0B981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SBI Small Cap Direct is the #1 ranked fund (Composite Score: 94.8)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0B981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All top-10 funds by Sharpe Ratio are either Small Cap or Flexi Cap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0B981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Direct plans outperform Regular plans by 0.6-0.9% annually (expense drag)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0B981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Max Drawdown range: -10% (Low Risk) to -25% (Very High Risk)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0B981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Alpha &gt; 1% for 18 out of 40 funds — indicating active management value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0B981"/>
                </a:solidFill>
                <a:latin typeface="Calibri"/>
              </a:rPr>
              <a:t>Advanced Risk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VaR, CVaR, Rolling Sharpe, HHI Concentration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051560"/>
            <a:ext cx="11247120" cy="0"/>
          </a:xfrm>
          <a:prstGeom prst="line">
            <a:avLst/>
          </a:prstGeom>
          <a:ln w="2540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rolling_sharpe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94360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13716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Key Risk 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0B981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VaR 95%: Small Cap = -1.8% to -2.2% daily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0B981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VaR 95%: Large Cap = -0.9% to -1.1% daily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0B981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CVaR shows 40% worse loss on the worst 5% of days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0B981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Rolling Sharpe peaked at 2.5+ in mid-2023 bull run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0B981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38.2% of SIP investors are 'at-risk' (gap &gt; 35 days)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0B981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HHI: Concentration does NOT predict higher returns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0B981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Most diversified fund: Nippon India Large Cap (HHI=0.08)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0B981"/>
                </a:solidFill>
                <a:latin typeface="Calibri"/>
              </a:rPr>
              <a:t>Power BI Dashboard — Market &amp;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Pages 1-2: Industry overview, AUM trends, fund scorecard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051560"/>
            <a:ext cx="11247120" cy="0"/>
          </a:xfrm>
          <a:prstGeom prst="line">
            <a:avLst/>
          </a:prstGeom>
          <a:ln w="2540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pag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5760720" cy="3840480"/>
          </a:xfrm>
          <a:prstGeom prst="rect">
            <a:avLst/>
          </a:prstGeom>
        </p:spPr>
      </p:pic>
      <p:pic>
        <p:nvPicPr>
          <p:cNvPr id="7" name="Picture 6" descr="page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760720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539496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Page 1: AUM trend, Top AMCs, SIP inflow, Folio growth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539496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Page 2: Risk-return scatter, NAV trends, Performance table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21792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Technology: Power BI Desktop | DAX Measures | Star Schema | Slicers + Drill-through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0B981"/>
                </a:solidFill>
                <a:latin typeface="Calibri"/>
              </a:rPr>
              <a:t>Power BI Dashboard — Investor &amp;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Pages 3-4: Demographics, geographic heatmap, benchmark comparison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051560"/>
            <a:ext cx="11247120" cy="0"/>
          </a:xfrm>
          <a:prstGeom prst="line">
            <a:avLst/>
          </a:prstGeom>
          <a:ln w="2540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pag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5760720" cy="3840480"/>
          </a:xfrm>
          <a:prstGeom prst="rect">
            <a:avLst/>
          </a:prstGeom>
        </p:spPr>
      </p:pic>
      <p:pic>
        <p:nvPicPr>
          <p:cNvPr id="7" name="Picture 6" descr="page_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760720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539496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Page 3: Age/Gender splits, Geo heatmap, City tier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539496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Page 4: NAV vs Index, Category flows, Sector HHI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21792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Consistent fintech blue/purple theme | Slicers on every page | Interactive tooltips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0B981"/>
                </a:solidFill>
                <a:latin typeface="Calibri"/>
              </a:rPr>
              <a:t>Fund Recommender &amp; Cohort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Rule-based engine + investor behavior insights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051560"/>
            <a:ext cx="11247120" cy="0"/>
          </a:xfrm>
          <a:prstGeom prst="line">
            <a:avLst/>
          </a:prstGeom>
          <a:ln w="2540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Recommendation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2024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3B82F6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Maps risk appetite → compatible fund risk grades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3B82F6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Ranks candidates by Sharpe Ratio (top-3)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3B82F6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Low: Low risk → Bond/Debt funds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3B82F6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Moderate: Moderate + Moderately High → Flexi/Large Cap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3B82F6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High: High + Very High → Small Cap/Mid Cap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3B82F6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CLI: python scripts/recommender.py --risk Moderate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Investor Cohort Insights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F59E0B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2022 cohort: Highest avg SIP at ₹8,200+/month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F59E0B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38.2% of 6+ SIP investors are 'at-risk' (gap &gt;35 days)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F59E0B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Under-30 investors: Fastest growing segment (+28% YoY)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F59E0B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Tier-2 cities: Lower churn (32%) vs Tier-1 (40%)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F59E0B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Jan/Apr: Peak discontinuation months (tax season effect)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F59E0B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HHI analysis: Concentration ≠ better returns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0B981"/>
                </a:solidFill>
                <a:latin typeface="Calibri"/>
              </a:rPr>
              <a:t>Strategic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Data-driven insights for AMCs, distributors &amp; investors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051560"/>
            <a:ext cx="11247120" cy="0"/>
          </a:xfrm>
          <a:prstGeom prst="line">
            <a:avLst/>
          </a:prstGeom>
          <a:ln w="2540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57200" y="1371600"/>
            <a:ext cx="3657600" cy="5029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365760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For Investors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0B981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SIP investors in 2022 cohort benefited most — stay invested through cycles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0B981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Small Cap: High returns (24% CAGR) but requires 3+ year horizon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0B981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Prefer Direct Plans: Save 0.7-1.0% annually over Regular Plans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1371600"/>
            <a:ext cx="3657600" cy="5029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371600"/>
            <a:ext cx="3657600" cy="5029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41732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For Fund Managers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59" y="2011680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3B82F6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SIP retention: 38% at-risk investors need proactive outreach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3B82F6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Expense ratio reduction in Regular plans improves competitiveness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3B82F6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Diversified portfolios (low HHI) delivered comparable risk-adjusted returns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1371600"/>
            <a:ext cx="3657600" cy="5029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1371600"/>
            <a:ext cx="3657600" cy="502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8200" y="141732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For Bluestock Fintech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011680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F59E0B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Productionize recommender as a REST API endpoint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F59E0B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Rolling Sharpe monitoring for fund-of-funds rebalancing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F59E0B"/>
                </a:solidFill>
                <a:latin typeface="Calibri"/>
              </a:rPr>
              <a:t>▸ </a:t>
            </a:r>
            <a:r>
              <a:rPr sz="1300">
                <a:solidFill>
                  <a:srgbClr val="E2E8F0"/>
                </a:solidFill>
                <a:latin typeface="Calibri"/>
              </a:rPr>
              <a:t>Cohort analysis powers personalized investor communication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8288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0B981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Bluestock Fintech | Mutual Fund Analytics Capstone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371600" y="1920240"/>
            <a:ext cx="9445752" cy="0"/>
          </a:xfrm>
          <a:prstGeom prst="line">
            <a:avLst/>
          </a:prstGeom>
          <a:ln w="2540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57200" y="2103120"/>
            <a:ext cx="11274552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167127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167127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  <a:latin typeface="Calibri"/>
              </a:rPr>
              <a:t>10 raw datasets → cleaned, modelled, and loaded into SQLite star schema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97479"/>
            <a:ext cx="11274552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761487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761487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  <a:latin typeface="Calibri"/>
              </a:rPr>
              <a:t>15 EDA visualizations with 10 actionable business insights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291839"/>
            <a:ext cx="11274552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355847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355847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  <a:latin typeface="Calibri"/>
              </a:rPr>
              <a:t>40 funds scored on 5 performance dimensions (CAGR, Sharpe, Alpha, Expense, MaxDD)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886200"/>
            <a:ext cx="11274552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95020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9502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  <a:latin typeface="Calibri"/>
              </a:rPr>
              <a:t>4-page interactive Power BI dashboard with DAX-driven KPI cards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480560"/>
            <a:ext cx="11274552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54456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54456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  <a:latin typeface="Calibri"/>
              </a:rPr>
              <a:t>Advanced risk analytics: VaR, CVaR, Rolling Sharpe, HHI, Cohort, SIP Continuity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074920"/>
            <a:ext cx="11274552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13892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13892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  <a:latin typeface="Calibri"/>
              </a:rPr>
              <a:t>Rule-based fund recommendation engine with CLI interface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669280"/>
            <a:ext cx="11274552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573328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73328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  <a:latin typeface="Calibri"/>
              </a:rPr>
              <a:t>Comprehensive 15–20 page final report + this 12-slide 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0080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94A3B8"/>
                </a:solidFill>
                <a:latin typeface="Calibri"/>
              </a:rPr>
              <a:t>Kunal Gupta  |  Internship @ Bluestock Fintech  |  July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