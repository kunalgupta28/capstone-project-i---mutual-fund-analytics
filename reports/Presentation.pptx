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0B981"/>
                </a:solidFill>
                <a:latin typeface="Calibri"/>
              </a:rPr>
              <a:t>BLUESTOCK FINTECH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2E8F0"/>
                </a:solidFill>
                <a:latin typeface="Calibri"/>
              </a:rPr>
              <a:t>Mutual Fund Analytics — Capstone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94A3B8"/>
                </a:solidFill>
                <a:latin typeface="Calibri"/>
              </a:rPr>
              <a:t>Final Presentation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651760"/>
            <a:ext cx="8531352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09728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Schemes Analysed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51K+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NAV Data 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32K+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Transactions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Raw Datasets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Analysis Phases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Prepared by: Kunal Gupta  | 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Internship @ Bluestock Fintech  |  AI/ML Data Analytics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Project Objective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End-to-end MF analytics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46304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Build a complete data pipeline for 40 mutual fund schemes across 12 AMCs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Perform EDA, performance analytics, and advanced risk metrics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Develop an interactive Power BI dashboard for business stakeholders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Implement a rule-based fund recommendation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54480"/>
            <a:ext cx="1554480" cy="128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402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ETL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1554480"/>
            <a:ext cx="1554480" cy="1280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2402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SQL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0" y="1554480"/>
            <a:ext cx="1554480" cy="128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0" y="16459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2402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200400"/>
            <a:ext cx="1554480" cy="1280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329184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886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Perf.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3200400"/>
            <a:ext cx="1554480" cy="128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329184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86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200400"/>
            <a:ext cx="1554480" cy="1280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3886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Adv.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6-Phase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Dataset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10 structured CSV datasets | Synthetic, realistic data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01 Fund Master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40 schemes, AMC, category, plan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02 NAV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51,400+ daily NAV records (2020-2025)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03 AUM by Fund 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03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140 AMCs × monthly AUM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04 Monthly SIP Inflows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17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60 months of industry SIP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66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05 Category Inflows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32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Inflow by fund category per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06 Folio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8745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Industry folio growth (24 months)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07 Scheme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788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Sharpe, Sortino, Alpha, Beta, VaR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08 Investor Transactions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32,780 SIP/redemption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251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09 Portfolio Holdings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617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323 stock-level equity holdings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5166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10 Benchmark Indices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532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NIFTY 50/100/SENSEX daily OHLCV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EDA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15 visualizations | 10 business insights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276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SIP inflows grew 3x: ₹11K Cr (Jan'23) to ₹31K Cr (Dec'25)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420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T30 cities = 67% volume | B30 growing faster at +18% YoY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36-45 age group = highest SIP investors (32% of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708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Female investors show higher SIP continuity despite lower avg amount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2852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Large Cap NAV correlation &gt; 0.92 | Small Cap more idiosyncratic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276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Pharma &amp; Banking sectors dominate equity fund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07.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5420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Redemptions spike in Jan/Apr (tax planning) and Oct (corrections)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08.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UPI is now the dominant payment mode at 42% of transactions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09.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3708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Folio count grew 18% YoY — reflecting market participation surge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10.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2852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December is consistently the highest SIP inflow month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Fund Performance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Composite scorecard | Risk-adjusted returns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24.6%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Top 3yr CAGR
(Small Cap)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  <a:latin typeface="Calibri"/>
              </a:rPr>
              <a:t>0.94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Best Sharpe
(SBI Small Cap)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9E0B"/>
                </a:solidFill>
                <a:latin typeface="Calibri"/>
              </a:rPr>
              <a:t>1.0%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Avg Expense
Direct Plans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F4444"/>
                </a:solidFill>
                <a:latin typeface="Calibri"/>
              </a:rPr>
              <a:t>94.8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Top Composite
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Metrics in
Scorecard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  <a:latin typeface="Calibri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Funds Ranked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9260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4A3B8"/>
                </a:solidFill>
                <a:latin typeface="Calibri"/>
              </a:rPr>
              <a:t>Composite Score = 30% CAGR + 25% Sharpe + 20% Alpha + 15% Expense(inv) + 10% MaxDD(inv)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747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SBI Small Cap Direct is the #1 ranked fund (Composite Score: 94.8)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All top-10 funds by Sharpe Ratio are either Small Cap or Flexi Cap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Direct plans outperform Regular plans by 0.6-0.9% annually (expense drag)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Max Drawdown range: -10% (Low Risk) to -25% (Very High Risk)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Alpha &gt; 1% for 18 out of 40 funds — indicating active management 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Advanced Risk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VaR, CVaR, Rolling Sharpe, HHI Concentration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olling_sharp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Key Risk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VaR 95%: Small Cap = -1.8% to -2.2% daily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VaR 95%: Large Cap = -0.9% to -1.1% daily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CVaR shows 40% worse loss on the worst 5% of days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Rolling Sharpe peaked at 2.5+ in mid-2023 bull run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38.2% of SIP investors are 'at-risk' (gap &gt; 35 days)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HHI: Concentration does NOT predict higher returns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Most diversified fund: Nippon India Large Cap (HHI=0.08)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Power BI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4-page interactive report | Dark slate theme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56692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Page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Industry Overview — AUM trend, Top AMCs, SIP inflow, Folio growth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56692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Page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Fund Performance — Risk-return scatter, NAV trends, Scorecard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56692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Page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Investor Behaviour — Demographics, SIP box, Geo heatmap, Cohort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749039"/>
            <a:ext cx="56692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886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Page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434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Benchmark Analysis — NAV vs Index, Category flows, Sector HHI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Technology: Power BI Desktop | DAX Measures | Star Schema (9 tables)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Key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Data-driven insights for AMCs, distributors &amp; investors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371600"/>
            <a:ext cx="36576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65760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 Investors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SIP investors in 2022 cohort have benefited most — stay invested through cycles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Small Cap: High returns (24% CAGR) but requires 3+ year horizon &amp; high risk tolerance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Prefer Direct Plans: Save 0.7-1.0% annually over Regular Plans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6576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371600"/>
            <a:ext cx="365760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17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 Fund Managers / AMCs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SIP retention: 38% at-risk investors need proactive outreach programs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Expense ratio reduction in Regular plans would improve competitiveness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Diversified portfolios (low HHI) delivered comparable returns with less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371600"/>
            <a:ext cx="36576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365760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417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 Bluestock Fintech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Productionize the recommender API as a client-facing tool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Build rolling Sharpe monitoring for real-time fund-of-funds rebalancing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Use cohort analysis to power personalized investor communication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0B981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Bluestock Fintech | Mutual Fund Analytics Capstone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71600" y="1920240"/>
            <a:ext cx="9445752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210312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6712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67127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10 raw datasets → cleaned, modelled, and loaded into SQLite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79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6148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61487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15 EDA visualizations with 10 actionable business insights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91839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5584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55847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40 funds scored on 5 performance dimensions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502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4-page interactive Power BI dashboard with DAX-driven metrics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8056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445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445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Advanced risk analytics: VaR, CVaR, Rolling Sharpe, HHI, Cohort, SIP Continuity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389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1389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Rule-based fund recommendation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6928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73328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73328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Comprehensive final report + this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4A3B8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